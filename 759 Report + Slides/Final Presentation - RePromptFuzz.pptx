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Proxima Nova"/>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roximaNova-bold.fntdata"/><Relationship Id="rId12" Type="http://schemas.openxmlformats.org/officeDocument/2006/relationships/slide" Target="slides/slide7.xml"/><Relationship Id="rId34" Type="http://schemas.openxmlformats.org/officeDocument/2006/relationships/font" Target="fonts/ProximaNova-regular.fntdata"/><Relationship Id="rId15" Type="http://schemas.openxmlformats.org/officeDocument/2006/relationships/slide" Target="slides/slide10.xml"/><Relationship Id="rId37" Type="http://schemas.openxmlformats.org/officeDocument/2006/relationships/font" Target="fonts/ProximaNova-boldItalic.fntdata"/><Relationship Id="rId14" Type="http://schemas.openxmlformats.org/officeDocument/2006/relationships/slide" Target="slides/slide9.xml"/><Relationship Id="rId36" Type="http://schemas.openxmlformats.org/officeDocument/2006/relationships/font" Target="fonts/ProximaNova-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Mitchell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Hello,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are team 1, My name is Mitchell, this is Andrew, and today we will be introducing our project proposal on Enhancing LLM Fuzz Driver Coverage Through Iterative Prompts</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66feaefd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66feaefd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Mitchell -</a:t>
            </a:r>
            <a:br>
              <a:rPr lang="en">
                <a:solidFill>
                  <a:schemeClr val="dk1"/>
                </a:solidFill>
              </a:rPr>
            </a:br>
            <a:br>
              <a:rPr lang="en">
                <a:solidFill>
                  <a:schemeClr val="dk1"/>
                </a:solidFill>
              </a:rPr>
            </a:br>
            <a:r>
              <a:rPr lang="en">
                <a:solidFill>
                  <a:schemeClr val="dk1"/>
                </a:solidFill>
              </a:rPr>
              <a:t>The core problem that we are attempting to address is ensuring that code libraries remain free from potentially damaging vulnerabilities.</a:t>
            </a:r>
            <a:br>
              <a:rPr lang="en">
                <a:solidFill>
                  <a:schemeClr val="dk1"/>
                </a:solidFill>
              </a:rPr>
            </a:br>
            <a:br>
              <a:rPr lang="en">
                <a:solidFill>
                  <a:schemeClr val="dk1"/>
                </a:solidFill>
              </a:rPr>
            </a:br>
            <a:r>
              <a:rPr lang="en">
                <a:solidFill>
                  <a:schemeClr val="dk1"/>
                </a:solidFill>
              </a:rPr>
              <a:t>Modern coding relies heavily on pre established libraries which could unknowingly be introducing many software bugs into the projects that incorporate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order to detect and patch these bugs, the use of fuzz programs has been essential for testing libraries thoroughly to ensure malformed inputs will not produce unexpected outputs.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Typically, in order to properly fuzz a library, a “fuzz - driver” would be coded to ensure every function in the library is tested, but crafting these drivers requires an in-depth knowledge of the code, which represents a significant challenge to anyone thinking of auditing a library’s security.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67accc8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67accc8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Mitchell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That leads us to our baseline; introducing PromtFuzz</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Originally debuting in late 2024, PromtFuzz is a program that utilizes LLMs to generate high-quality fuzz drivers for a given library.</a:t>
            </a:r>
            <a:br>
              <a:rPr lang="en">
                <a:solidFill>
                  <a:schemeClr val="dk1"/>
                </a:solidFill>
              </a:rPr>
            </a:br>
            <a:br>
              <a:rPr lang="en">
                <a:solidFill>
                  <a:schemeClr val="dk1"/>
                </a:solidFill>
              </a:rPr>
            </a:br>
            <a:r>
              <a:rPr lang="en">
                <a:solidFill>
                  <a:schemeClr val="dk1"/>
                </a:solidFill>
              </a:rPr>
              <a:t>Many checks are performed on the generated drivers to ensure correctness and fullness of scope.</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666feaefd5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666feaefd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Mitchell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overview and flow diagram of how PromptFuzz operates. It is split between 4 phases of operation which each play an important role in developing a specialized fuzz driver.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phase, the instructive program generation section, is where Promtfuzz takes API and function calls from the target library, formats them, an places them into a prompt which gets send to the target LLM to generate a fuzz driver.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second phase, the driver code is received and run through a sanitization module (utilizing clang and LLVM) to ensure that the program runs, </a:t>
            </a:r>
            <a:r>
              <a:rPr lang="en"/>
              <a:t>notably</a:t>
            </a:r>
            <a:r>
              <a:rPr lang="en"/>
              <a:t>, </a:t>
            </a:r>
            <a:r>
              <a:rPr lang="en"/>
              <a:t>problematic</a:t>
            </a:r>
            <a:r>
              <a:rPr lang="en"/>
              <a:t> or erroneous code is </a:t>
            </a:r>
            <a:r>
              <a:rPr lang="en"/>
              <a:t>discarded</a:t>
            </a:r>
            <a:r>
              <a:rPr lang="en"/>
              <a:t> completely at this phase of generation.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third phase takes valid fuzzers and </a:t>
            </a:r>
            <a:r>
              <a:rPr lang="en"/>
              <a:t>assess</a:t>
            </a:r>
            <a:r>
              <a:rPr lang="en"/>
              <a:t> them for </a:t>
            </a:r>
            <a:r>
              <a:rPr lang="en"/>
              <a:t>their completeness and coverage of functions an APIs. This grey-box style segment tracks how often the returned programs cover specific code branches and function calls to determine which branches are underexplored or unrepresented. These programs get stored in a “seed bank” which weights programs on the previously mentioned criteria. It then mutates the prompt from phase 1 to try to incorporate the lesser used function and establishes a “Fuzz loop” of sorts where programs are recursively fed from the LLM back to the seed bank until all paths are explored or the LLM query token limit is reached. </a:t>
            </a:r>
            <a:br>
              <a:rPr lang="en"/>
            </a:br>
            <a:br>
              <a:rPr lang="en"/>
            </a:br>
            <a:r>
              <a:rPr lang="en"/>
              <a:t>Lastly, the program analyzes the seed programs’ data flow to guess API argument constraints, and replaces those elements (such as hard coded constants) with fuzzable variables.</a:t>
            </a:r>
            <a:endParaRPr/>
          </a:p>
          <a:p>
            <a:pPr indent="0" lvl="0" marL="0" rtl="0" algn="l">
              <a:spcBef>
                <a:spcPts val="0"/>
              </a:spcBef>
              <a:spcAft>
                <a:spcPts val="0"/>
              </a:spcAft>
              <a:buNone/>
            </a:pPr>
            <a:r>
              <a:rPr lang="en"/>
              <a:t>It then merges validated “unique” seeds (programs that covering distinct branches) and builds a unified fuzz driver with randomly generated inputs.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668cd529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668cd529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Andrew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a2bdf3e9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a2bdf3e9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67accc8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67accc8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Andrew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a32e081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a32e081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66feaefd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66feaefd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Andrew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66feaefd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66feaefd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Andrew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32e0819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a32e0819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Final presentation: go up to here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a2bdf3e9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a2bdf3e9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a32e081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a32e081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a32e0819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a32e0819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a32e0819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a32e0819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a32e0819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a32e0819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a2bdf3e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a2bdf3e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a32e0819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a32e081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a2bdf3e9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a2bdf3e9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a2bdf3e9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a2bdf3e9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12e6273e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12e6273e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a32e0819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a32e0819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a32e0819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a32e0819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cb937ca9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cb937ca9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a32e0819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a32e0819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66feaefd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66feaefd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666feaefd5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666feaefd5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68974d2b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68974d2b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kudelskisecurity.com/research/introducing-fuzzomatic-using-ai-to-automatically-fuzz-rust-projects-from-scratch" TargetMode="External"/><Relationship Id="rId4" Type="http://schemas.openxmlformats.org/officeDocument/2006/relationships/hyperlink" Target="http://google.github.io/oss-fuzz/research/llms/target_genera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620"/>
              <a:t>Enhancing LLM-Generated Fuzz Driver Performance Through Iterative Prompts</a:t>
            </a:r>
            <a:endParaRPr sz="3620"/>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1: Andrew Bush &amp; Mitchell Windahl</a:t>
            </a:r>
            <a:endParaRPr/>
          </a:p>
        </p:txBody>
      </p:sp>
      <p:sp>
        <p:nvSpPr>
          <p:cNvPr id="61" name="Google Shape;61;p13"/>
          <p:cNvSpPr txBox="1"/>
          <p:nvPr/>
        </p:nvSpPr>
        <p:spPr>
          <a:xfrm>
            <a:off x="510450" y="3812325"/>
            <a:ext cx="1989000" cy="7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4"/>
                </a:solidFill>
                <a:latin typeface="Proxima Nova"/>
                <a:ea typeface="Proxima Nova"/>
                <a:cs typeface="Proxima Nova"/>
                <a:sym typeface="Proxima Nova"/>
              </a:rPr>
              <a:t>12/3/2025</a:t>
            </a:r>
            <a:endParaRPr sz="1800">
              <a:solidFill>
                <a:schemeClr val="accent4"/>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Problem</a:t>
            </a:r>
            <a:endParaRPr/>
          </a:p>
        </p:txBody>
      </p:sp>
      <p:sp>
        <p:nvSpPr>
          <p:cNvPr id="67" name="Google Shape;67;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Modern code uses an extensive number of libraries </a:t>
            </a:r>
            <a:endParaRPr/>
          </a:p>
          <a:p>
            <a:pPr indent="-342900" lvl="0" marL="457200" rtl="0" algn="l">
              <a:spcBef>
                <a:spcPts val="0"/>
              </a:spcBef>
              <a:spcAft>
                <a:spcPts val="0"/>
              </a:spcAft>
              <a:buSzPts val="1800"/>
              <a:buChar char="●"/>
            </a:pPr>
            <a:r>
              <a:rPr lang="en"/>
              <a:t>Fuzzing remains one of the most reliable methods of securing libraries</a:t>
            </a:r>
            <a:endParaRPr/>
          </a:p>
          <a:p>
            <a:pPr indent="-342900" lvl="0" marL="457200" rtl="0" algn="l">
              <a:spcBef>
                <a:spcPts val="0"/>
              </a:spcBef>
              <a:spcAft>
                <a:spcPts val="0"/>
              </a:spcAft>
              <a:buSzPts val="1800"/>
              <a:buChar char="●"/>
            </a:pPr>
            <a:r>
              <a:rPr lang="en"/>
              <a:t>Writing good fuzz drivers is hard and requires deep </a:t>
            </a:r>
            <a:r>
              <a:rPr lang="en"/>
              <a:t>knowledge</a:t>
            </a:r>
            <a:endParaRPr/>
          </a:p>
        </p:txBody>
      </p:sp>
      <p:sp>
        <p:nvSpPr>
          <p:cNvPr id="68" name="Google Shape;68;p14"/>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t>How do we ensure code libraries are safe from vulnerabilities?</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  PromptFuzz</a:t>
            </a:r>
            <a:endParaRPr/>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Tool introduced in </a:t>
            </a:r>
            <a:r>
              <a:rPr i="1" lang="en"/>
              <a:t>Prompt Fuzzing for Fuzz Driver Generation </a:t>
            </a:r>
            <a:r>
              <a:rPr lang="en"/>
              <a:t>(Lyu et al., 2024)</a:t>
            </a:r>
            <a:endParaRPr/>
          </a:p>
          <a:p>
            <a:pPr indent="-342900" lvl="0" marL="457200" rtl="0" algn="l">
              <a:spcBef>
                <a:spcPts val="0"/>
              </a:spcBef>
              <a:spcAft>
                <a:spcPts val="0"/>
              </a:spcAft>
              <a:buSzPts val="1800"/>
              <a:buChar char="●"/>
            </a:pPr>
            <a:r>
              <a:rPr lang="en"/>
              <a:t>Program that generates the fuzz drivers for a given program using a LLM.</a:t>
            </a:r>
            <a:endParaRPr/>
          </a:p>
          <a:p>
            <a:pPr indent="-342900" lvl="0" marL="457200" rtl="0" algn="l">
              <a:spcBef>
                <a:spcPts val="0"/>
              </a:spcBef>
              <a:spcAft>
                <a:spcPts val="0"/>
              </a:spcAft>
              <a:buSzPts val="1800"/>
              <a:buChar char="●"/>
            </a:pPr>
            <a:r>
              <a:rPr lang="en"/>
              <a:t>Verifies the driver correctness by doing </a:t>
            </a:r>
            <a:r>
              <a:rPr lang="en"/>
              <a:t>syntactic and</a:t>
            </a:r>
            <a:r>
              <a:rPr lang="en"/>
              <a:t> semantic checking.</a:t>
            </a:r>
            <a:endParaRPr/>
          </a:p>
        </p:txBody>
      </p:sp>
      <p:pic>
        <p:nvPicPr>
          <p:cNvPr id="75" name="Google Shape;75;p15"/>
          <p:cNvPicPr preferRelativeResize="0"/>
          <p:nvPr/>
        </p:nvPicPr>
        <p:blipFill>
          <a:blip r:embed="rId3">
            <a:alphaModFix/>
          </a:blip>
          <a:stretch>
            <a:fillRect/>
          </a:stretch>
        </p:blipFill>
        <p:spPr>
          <a:xfrm>
            <a:off x="2004338" y="2249275"/>
            <a:ext cx="5135325" cy="2567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idx="1" type="body"/>
          </p:nvPr>
        </p:nvSpPr>
        <p:spPr>
          <a:xfrm>
            <a:off x="311700" y="4236825"/>
            <a:ext cx="4566600" cy="5988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rmAutofit fontScale="92500"/>
          </a:bodyPr>
          <a:lstStyle/>
          <a:p>
            <a:pPr indent="0" lvl="0" marL="0" rtl="0" algn="ctr">
              <a:spcBef>
                <a:spcPts val="0"/>
              </a:spcBef>
              <a:spcAft>
                <a:spcPts val="0"/>
              </a:spcAft>
              <a:buNone/>
            </a:pPr>
            <a:r>
              <a:rPr lang="en"/>
              <a:t>Fuzz Driver Generation in PromptFuzz</a:t>
            </a:r>
            <a:endParaRPr/>
          </a:p>
        </p:txBody>
      </p:sp>
      <p:pic>
        <p:nvPicPr>
          <p:cNvPr id="81" name="Google Shape;81;p16"/>
          <p:cNvPicPr preferRelativeResize="0"/>
          <p:nvPr/>
        </p:nvPicPr>
        <p:blipFill>
          <a:blip r:embed="rId3">
            <a:alphaModFix/>
          </a:blip>
          <a:stretch>
            <a:fillRect/>
          </a:stretch>
        </p:blipFill>
        <p:spPr>
          <a:xfrm>
            <a:off x="152400" y="661825"/>
            <a:ext cx="8839200" cy="315685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Erroneous</a:t>
            </a:r>
            <a:r>
              <a:rPr lang="en"/>
              <a:t> Program Validation</a:t>
            </a:r>
            <a:endParaRPr/>
          </a:p>
        </p:txBody>
      </p:sp>
      <p:pic>
        <p:nvPicPr>
          <p:cNvPr id="87" name="Google Shape;87;p17"/>
          <p:cNvPicPr preferRelativeResize="0"/>
          <p:nvPr/>
        </p:nvPicPr>
        <p:blipFill>
          <a:blip r:embed="rId3">
            <a:alphaModFix/>
          </a:blip>
          <a:stretch>
            <a:fillRect/>
          </a:stretch>
        </p:blipFill>
        <p:spPr>
          <a:xfrm>
            <a:off x="152400" y="1170125"/>
            <a:ext cx="8839199" cy="2359217"/>
          </a:xfrm>
          <a:prstGeom prst="rect">
            <a:avLst/>
          </a:prstGeom>
          <a:noFill/>
          <a:ln>
            <a:noFill/>
          </a:ln>
        </p:spPr>
      </p:pic>
      <p:sp>
        <p:nvSpPr>
          <p:cNvPr id="88" name="Google Shape;88;p17"/>
          <p:cNvSpPr/>
          <p:nvPr/>
        </p:nvSpPr>
        <p:spPr>
          <a:xfrm>
            <a:off x="1743900" y="3888075"/>
            <a:ext cx="1458900" cy="692100"/>
          </a:xfrm>
          <a:prstGeom prst="rect">
            <a:avLst/>
          </a:prstGeom>
          <a:solidFill>
            <a:srgbClr val="B6D7A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Syntactically Incorrect Code Removed Here</a:t>
            </a:r>
            <a:endParaRPr>
              <a:latin typeface="Proxima Nova"/>
              <a:ea typeface="Proxima Nova"/>
              <a:cs typeface="Proxima Nova"/>
              <a:sym typeface="Proxima Nova"/>
            </a:endParaRPr>
          </a:p>
        </p:txBody>
      </p:sp>
      <p:sp>
        <p:nvSpPr>
          <p:cNvPr id="89" name="Google Shape;89;p17"/>
          <p:cNvSpPr/>
          <p:nvPr/>
        </p:nvSpPr>
        <p:spPr>
          <a:xfrm>
            <a:off x="2402100" y="3358875"/>
            <a:ext cx="142500" cy="529200"/>
          </a:xfrm>
          <a:prstGeom prst="up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18"/>
          <p:cNvSpPr txBox="1"/>
          <p:nvPr>
            <p:ph type="title"/>
          </p:nvPr>
        </p:nvSpPr>
        <p:spPr>
          <a:xfrm>
            <a:off x="311700" y="555600"/>
            <a:ext cx="49026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Syntax Module</a:t>
            </a:r>
            <a:r>
              <a:rPr lang="en">
                <a:solidFill>
                  <a:schemeClr val="lt1"/>
                </a:solidFill>
              </a:rPr>
              <a:t> Code</a:t>
            </a:r>
            <a:endParaRPr>
              <a:solidFill>
                <a:schemeClr val="lt1"/>
              </a:solidFill>
            </a:endParaRPr>
          </a:p>
        </p:txBody>
      </p:sp>
      <p:pic>
        <p:nvPicPr>
          <p:cNvPr id="95" name="Google Shape;95;p18"/>
          <p:cNvPicPr preferRelativeResize="0"/>
          <p:nvPr/>
        </p:nvPicPr>
        <p:blipFill>
          <a:blip r:embed="rId3">
            <a:alphaModFix/>
          </a:blip>
          <a:stretch>
            <a:fillRect/>
          </a:stretch>
        </p:blipFill>
        <p:spPr>
          <a:xfrm>
            <a:off x="1270026" y="1168900"/>
            <a:ext cx="6603949" cy="3727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75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Contribution - Iterative Prompting before Sanitization</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LLM generated code is </a:t>
            </a:r>
            <a:r>
              <a:rPr lang="en"/>
              <a:t>susceptible to having syntax errors, 63.9% of programs contained these errors in testing.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PromptFuzz currently discards programs with syntax errors from the generated driver, which is inefficient and may result in reduced code coverage.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We will attempt to fix this by iteratively prompt a LLM specifically on the extracted erroneous code.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When Fuzzing Meets LLMs: Challenges and Opportunities</a:t>
            </a:r>
            <a:endParaRPr b="1">
              <a:solidFill>
                <a:schemeClr val="dk1"/>
              </a:solidFill>
            </a:endParaRPr>
          </a:p>
          <a:p>
            <a:pPr indent="0" lvl="0" marL="0" rtl="0" algn="l">
              <a:spcBef>
                <a:spcPts val="1200"/>
              </a:spcBef>
              <a:spcAft>
                <a:spcPts val="0"/>
              </a:spcAft>
              <a:buNone/>
            </a:pPr>
            <a:r>
              <a:rPr i="1" lang="en">
                <a:solidFill>
                  <a:schemeClr val="dk1"/>
                </a:solidFill>
              </a:rPr>
              <a:t>Jiang et al, 2024</a:t>
            </a:r>
            <a:endParaRPr i="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Analyzed trends in LLM assisted fuzzing research.</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Recommended</a:t>
            </a:r>
            <a:r>
              <a:rPr lang="en">
                <a:solidFill>
                  <a:schemeClr val="dk1"/>
                </a:solidFill>
              </a:rPr>
              <a:t> iterative repair loops as a means to remediate syntax errors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Conducted after Promptfuzz</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Is this insight useful for </a:t>
            </a:r>
            <a:r>
              <a:rPr lang="en">
                <a:solidFill>
                  <a:schemeClr val="dk1"/>
                </a:solidFill>
              </a:rPr>
              <a:t>prompt fuzz</a:t>
            </a:r>
            <a:r>
              <a:rPr lang="en">
                <a:solidFill>
                  <a:schemeClr val="dk1"/>
                </a:solidFill>
              </a:rPr>
              <a:t>?</a:t>
            </a:r>
            <a:endParaRPr>
              <a:solidFill>
                <a:schemeClr val="dk1"/>
              </a:solidFill>
            </a:endParaRPr>
          </a:p>
        </p:txBody>
      </p:sp>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Inspiration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Relevant Works:</a:t>
            </a:r>
            <a:endParaRPr/>
          </a:p>
        </p:txBody>
      </p:sp>
      <p:sp>
        <p:nvSpPr>
          <p:cNvPr id="113" name="Google Shape;113;p21"/>
          <p:cNvSpPr txBox="1"/>
          <p:nvPr>
            <p:ph idx="1" type="body"/>
          </p:nvPr>
        </p:nvSpPr>
        <p:spPr>
          <a:xfrm>
            <a:off x="311700" y="1152475"/>
            <a:ext cx="3999900" cy="3416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Fuzzomatic</a:t>
            </a:r>
            <a:endParaRPr b="1">
              <a:solidFill>
                <a:schemeClr val="dk1"/>
              </a:solidFill>
            </a:endParaRPr>
          </a:p>
          <a:p>
            <a:pPr indent="0" lvl="0" marL="0" rtl="0" algn="l">
              <a:spcBef>
                <a:spcPts val="1200"/>
              </a:spcBef>
              <a:spcAft>
                <a:spcPts val="0"/>
              </a:spcAft>
              <a:buNone/>
            </a:pPr>
            <a:r>
              <a:rPr lang="en" sz="1100" u="sng">
                <a:solidFill>
                  <a:srgbClr val="0000FF"/>
                </a:solidFill>
                <a:latin typeface="Arial"/>
                <a:ea typeface="Arial"/>
                <a:cs typeface="Arial"/>
                <a:sym typeface="Arial"/>
                <a:hlinkClick r:id="rId3">
                  <a:extLst>
                    <a:ext uri="{A12FA001-AC4F-418D-AE19-62706E023703}">
                      <ahyp:hlinkClr val="tx"/>
                    </a:ext>
                  </a:extLst>
                </a:hlinkClick>
              </a:rPr>
              <a:t>Introducing Fuzzomatic: Using AI to Automatically Fuzz Rust Projects from Scratch - Kudelski Security Research Center</a:t>
            </a:r>
            <a:endParaRPr>
              <a:solidFill>
                <a:srgbClr val="0000FF"/>
              </a:solidFill>
            </a:endParaRPr>
          </a:p>
          <a:p>
            <a:pPr indent="0" lvl="0" marL="0" rtl="0" algn="l">
              <a:spcBef>
                <a:spcPts val="1200"/>
              </a:spcBef>
              <a:spcAft>
                <a:spcPts val="0"/>
              </a:spcAft>
              <a:buNone/>
            </a:pPr>
            <a:r>
              <a:rPr i="1" lang="en">
                <a:solidFill>
                  <a:schemeClr val="dk1"/>
                </a:solidFill>
              </a:rPr>
              <a:t>Nils Amiet, 2023</a:t>
            </a:r>
            <a:endParaRPr>
              <a:solidFill>
                <a:schemeClr val="dk1"/>
              </a:solidFill>
            </a:endParaRPr>
          </a:p>
          <a:p>
            <a:pPr indent="-317500" lvl="0" marL="457200" rtl="0" algn="l">
              <a:spcBef>
                <a:spcPts val="1200"/>
              </a:spcBef>
              <a:spcAft>
                <a:spcPts val="0"/>
              </a:spcAft>
              <a:buClr>
                <a:schemeClr val="dk1"/>
              </a:buClr>
              <a:buSzPts val="1400"/>
              <a:buChar char="●"/>
            </a:pPr>
            <a:r>
              <a:rPr lang="en">
                <a:solidFill>
                  <a:schemeClr val="dk1"/>
                </a:solidFill>
              </a:rPr>
              <a:t>Rust fuzzer </a:t>
            </a:r>
            <a:r>
              <a:rPr lang="en">
                <a:solidFill>
                  <a:schemeClr val="dk1"/>
                </a:solidFill>
              </a:rPr>
              <a:t>developed</a:t>
            </a:r>
            <a:r>
              <a:rPr lang="en">
                <a:solidFill>
                  <a:schemeClr val="dk1"/>
                </a:solidFill>
              </a:rPr>
              <a:t> in python</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Utilizes LLMs in a similar </a:t>
            </a:r>
            <a:r>
              <a:rPr lang="en">
                <a:solidFill>
                  <a:schemeClr val="dk1"/>
                </a:solidFill>
              </a:rPr>
              <a:t>fashion</a:t>
            </a:r>
            <a:r>
              <a:rPr lang="en">
                <a:solidFill>
                  <a:schemeClr val="dk1"/>
                </a:solidFill>
              </a:rPr>
              <a:t> to PromptFuzz</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Fixing Compilation Errors:</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Feeds the </a:t>
            </a:r>
            <a:r>
              <a:rPr lang="en">
                <a:solidFill>
                  <a:schemeClr val="dk1"/>
                </a:solidFill>
              </a:rPr>
              <a:t>LLM the errors and asks it to fix the code without modifying its behavior</a:t>
            </a:r>
            <a:endParaRPr>
              <a:solidFill>
                <a:schemeClr val="dk1"/>
              </a:solidFill>
            </a:endParaRPr>
          </a:p>
        </p:txBody>
      </p:sp>
      <p:sp>
        <p:nvSpPr>
          <p:cNvPr id="114" name="Google Shape;114;p21"/>
          <p:cNvSpPr txBox="1"/>
          <p:nvPr>
            <p:ph idx="2" type="body"/>
          </p:nvPr>
        </p:nvSpPr>
        <p:spPr>
          <a:xfrm>
            <a:off x="4832400" y="1152475"/>
            <a:ext cx="3999900" cy="3416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Fuzz target generation using llms</a:t>
            </a:r>
            <a:endParaRPr b="1">
              <a:solidFill>
                <a:schemeClr val="dk1"/>
              </a:solidFill>
            </a:endParaRPr>
          </a:p>
          <a:p>
            <a:pPr indent="0" lvl="0" marL="0" rtl="0" algn="l">
              <a:spcBef>
                <a:spcPts val="1200"/>
              </a:spcBef>
              <a:spcAft>
                <a:spcPts val="0"/>
              </a:spcAft>
              <a:buNone/>
            </a:pPr>
            <a:r>
              <a:rPr lang="en" u="sng">
                <a:solidFill>
                  <a:srgbClr val="0000FF"/>
                </a:solidFill>
              </a:rPr>
              <a:t>https://</a:t>
            </a:r>
            <a:r>
              <a:rPr lang="en" u="sng">
                <a:solidFill>
                  <a:srgbClr val="0000FF"/>
                </a:solidFill>
                <a:hlinkClick r:id="rId4">
                  <a:extLst>
                    <a:ext uri="{A12FA001-AC4F-418D-AE19-62706E023703}">
                      <ahyp:hlinkClr val="tx"/>
                    </a:ext>
                  </a:extLst>
                </a:hlinkClick>
              </a:rPr>
              <a:t>google.github.io/oss-fuzz/research/llms/target_generation/</a:t>
            </a:r>
            <a:r>
              <a:rPr lang="en" u="sng">
                <a:solidFill>
                  <a:srgbClr val="0000FF"/>
                </a:solidFill>
              </a:rPr>
              <a:t>.</a:t>
            </a:r>
            <a:endParaRPr u="sng">
              <a:solidFill>
                <a:srgbClr val="0000FF"/>
              </a:solidFill>
            </a:endParaRPr>
          </a:p>
          <a:p>
            <a:pPr indent="0" lvl="0" marL="0" rtl="0" algn="l">
              <a:spcBef>
                <a:spcPts val="1200"/>
              </a:spcBef>
              <a:spcAft>
                <a:spcPts val="0"/>
              </a:spcAft>
              <a:buNone/>
            </a:pPr>
            <a:r>
              <a:rPr i="1" lang="en">
                <a:solidFill>
                  <a:schemeClr val="dk1"/>
                </a:solidFill>
              </a:rPr>
              <a:t>Dongge Liu, J. M., and Chang, O. 2023</a:t>
            </a:r>
            <a:endParaRPr i="1">
              <a:solidFill>
                <a:schemeClr val="dk1"/>
              </a:solidFill>
            </a:endParaRPr>
          </a:p>
          <a:p>
            <a:pPr indent="-317500" lvl="0" marL="457200" rtl="0" algn="l">
              <a:spcBef>
                <a:spcPts val="1200"/>
              </a:spcBef>
              <a:spcAft>
                <a:spcPts val="0"/>
              </a:spcAft>
              <a:buClr>
                <a:schemeClr val="dk1"/>
              </a:buClr>
              <a:buSzPts val="1400"/>
              <a:buChar char="●"/>
            </a:pPr>
            <a:r>
              <a:rPr lang="en">
                <a:solidFill>
                  <a:schemeClr val="dk1"/>
                </a:solidFill>
              </a:rPr>
              <a:t>Research using OSS-Fuzz, an open source fuzzing framework</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Utilized LLMs to write fuzz targets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Fixing Trivial Errors:</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Iteratively feeds erroneous code to an LLM for fixing whilst also checking to ensure the libraries being tested are included.</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Iterative Prompting</a:t>
            </a:r>
            <a:endParaRPr/>
          </a:p>
        </p:txBody>
      </p:sp>
      <p:pic>
        <p:nvPicPr>
          <p:cNvPr id="120" name="Google Shape;120;p22"/>
          <p:cNvPicPr preferRelativeResize="0"/>
          <p:nvPr/>
        </p:nvPicPr>
        <p:blipFill>
          <a:blip r:embed="rId3">
            <a:alphaModFix/>
          </a:blip>
          <a:stretch>
            <a:fillRect/>
          </a:stretch>
        </p:blipFill>
        <p:spPr>
          <a:xfrm>
            <a:off x="897413" y="1252400"/>
            <a:ext cx="7349174" cy="3297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4" name="Shape 124"/>
        <p:cNvGrpSpPr/>
        <p:nvPr/>
      </p:nvGrpSpPr>
      <p:grpSpPr>
        <a:xfrm>
          <a:off x="0" y="0"/>
          <a:ext cx="0" cy="0"/>
          <a:chOff x="0" y="0"/>
          <a:chExt cx="0" cy="0"/>
        </a:xfrm>
      </p:grpSpPr>
      <p:pic>
        <p:nvPicPr>
          <p:cNvPr id="125" name="Google Shape;125;p23"/>
          <p:cNvPicPr preferRelativeResize="0"/>
          <p:nvPr/>
        </p:nvPicPr>
        <p:blipFill rotWithShape="1">
          <a:blip r:embed="rId3">
            <a:alphaModFix/>
          </a:blip>
          <a:srcRect b="42951" l="0" r="0" t="0"/>
          <a:stretch/>
        </p:blipFill>
        <p:spPr>
          <a:xfrm>
            <a:off x="0" y="1104638"/>
            <a:ext cx="9143998" cy="2934224"/>
          </a:xfrm>
          <a:prstGeom prst="rect">
            <a:avLst/>
          </a:prstGeom>
          <a:noFill/>
          <a:ln>
            <a:noFill/>
          </a:ln>
        </p:spPr>
      </p:pic>
      <p:sp>
        <p:nvSpPr>
          <p:cNvPr id="126" name="Google Shape;126;p23"/>
          <p:cNvSpPr/>
          <p:nvPr/>
        </p:nvSpPr>
        <p:spPr>
          <a:xfrm>
            <a:off x="675825" y="2281950"/>
            <a:ext cx="8394300" cy="1710900"/>
          </a:xfrm>
          <a:prstGeom prst="rect">
            <a:avLst/>
          </a:prstGeom>
          <a:no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7" name="Google Shape;127;p23"/>
          <p:cNvSpPr txBox="1"/>
          <p:nvPr>
            <p:ph type="title"/>
          </p:nvPr>
        </p:nvSpPr>
        <p:spPr>
          <a:xfrm>
            <a:off x="311700" y="555600"/>
            <a:ext cx="28080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Repair Prompt</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555600"/>
            <a:ext cx="51654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lt1"/>
                </a:solidFill>
              </a:rPr>
              <a:t>Fixing Code Sample Output</a:t>
            </a:r>
            <a:endParaRPr sz="3000">
              <a:solidFill>
                <a:schemeClr val="lt1"/>
              </a:solidFill>
            </a:endParaRPr>
          </a:p>
        </p:txBody>
      </p:sp>
      <p:pic>
        <p:nvPicPr>
          <p:cNvPr id="133" name="Google Shape;133;p24"/>
          <p:cNvPicPr preferRelativeResize="0"/>
          <p:nvPr/>
        </p:nvPicPr>
        <p:blipFill rotWithShape="1">
          <a:blip r:embed="rId3">
            <a:alphaModFix/>
          </a:blip>
          <a:srcRect b="31236" l="0" r="0" t="31191"/>
          <a:stretch/>
        </p:blipFill>
        <p:spPr>
          <a:xfrm>
            <a:off x="705263" y="1311300"/>
            <a:ext cx="7733474" cy="3227974"/>
          </a:xfrm>
          <a:prstGeom prst="rect">
            <a:avLst/>
          </a:prstGeom>
          <a:noFill/>
          <a:ln>
            <a:noFill/>
          </a:ln>
        </p:spPr>
      </p:pic>
      <p:pic>
        <p:nvPicPr>
          <p:cNvPr id="134" name="Google Shape;134;p24"/>
          <p:cNvPicPr preferRelativeResize="0"/>
          <p:nvPr/>
        </p:nvPicPr>
        <p:blipFill>
          <a:blip r:embed="rId4">
            <a:alphaModFix/>
          </a:blip>
          <a:stretch>
            <a:fillRect/>
          </a:stretch>
        </p:blipFill>
        <p:spPr>
          <a:xfrm>
            <a:off x="6429275" y="4037925"/>
            <a:ext cx="1789490" cy="777150"/>
          </a:xfrm>
          <a:prstGeom prst="rect">
            <a:avLst/>
          </a:prstGeom>
          <a:noFill/>
          <a:ln cap="flat" cmpd="sng" w="38100">
            <a:solidFill>
              <a:srgbClr val="00FF00"/>
            </a:solidFill>
            <a:prstDash val="solid"/>
            <a:round/>
            <a:headEnd len="sm" w="sm" type="none"/>
            <a:tailEnd len="sm" w="sm" type="none"/>
          </a:ln>
        </p:spPr>
      </p:pic>
      <p:pic>
        <p:nvPicPr>
          <p:cNvPr id="135" name="Google Shape;135;p24"/>
          <p:cNvPicPr preferRelativeResize="0"/>
          <p:nvPr/>
        </p:nvPicPr>
        <p:blipFill>
          <a:blip r:embed="rId5">
            <a:alphaModFix/>
          </a:blip>
          <a:stretch>
            <a:fillRect/>
          </a:stretch>
        </p:blipFill>
        <p:spPr>
          <a:xfrm>
            <a:off x="3526450" y="4037937"/>
            <a:ext cx="1823484" cy="777125"/>
          </a:xfrm>
          <a:prstGeom prst="rect">
            <a:avLst/>
          </a:prstGeom>
          <a:noFill/>
          <a:ln cap="flat" cmpd="sng" w="38100">
            <a:solidFill>
              <a:srgbClr val="FF0000"/>
            </a:solidFill>
            <a:prstDash val="solid"/>
            <a:round/>
            <a:headEnd len="sm" w="sm" type="none"/>
            <a:tailEnd len="sm" w="sm" type="none"/>
          </a:ln>
        </p:spPr>
      </p:pic>
      <p:cxnSp>
        <p:nvCxnSpPr>
          <p:cNvPr id="136" name="Google Shape;136;p24"/>
          <p:cNvCxnSpPr>
            <a:stCxn id="135" idx="3"/>
            <a:endCxn id="134" idx="1"/>
          </p:cNvCxnSpPr>
          <p:nvPr/>
        </p:nvCxnSpPr>
        <p:spPr>
          <a:xfrm>
            <a:off x="5349934" y="4426500"/>
            <a:ext cx="1079400" cy="0"/>
          </a:xfrm>
          <a:prstGeom prst="straightConnector1">
            <a:avLst/>
          </a:prstGeom>
          <a:noFill/>
          <a:ln cap="flat" cmpd="sng" w="28575">
            <a:solidFill>
              <a:schemeClr val="accent6"/>
            </a:solidFill>
            <a:prstDash val="dash"/>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Initial Methodology</a:t>
            </a:r>
            <a:endParaRPr/>
          </a:p>
        </p:txBody>
      </p:sp>
      <p:sp>
        <p:nvSpPr>
          <p:cNvPr id="142" name="Google Shape;142;p25"/>
          <p:cNvSpPr txBox="1"/>
          <p:nvPr>
            <p:ph idx="1" type="body"/>
          </p:nvPr>
        </p:nvSpPr>
        <p:spPr>
          <a:xfrm>
            <a:off x="3117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1:</a:t>
            </a:r>
            <a:endParaRPr sz="2400"/>
          </a:p>
          <a:p>
            <a:pPr indent="0" lvl="0" marL="0" rtl="0" algn="ctr">
              <a:spcBef>
                <a:spcPts val="1200"/>
              </a:spcBef>
              <a:spcAft>
                <a:spcPts val="1200"/>
              </a:spcAft>
              <a:buNone/>
            </a:pPr>
            <a:r>
              <a:rPr lang="en" sz="2000"/>
              <a:t>Implement</a:t>
            </a:r>
            <a:r>
              <a:rPr lang="en" sz="2000"/>
              <a:t> a functioning iterative syntax repair loop</a:t>
            </a:r>
            <a:endParaRPr sz="2000"/>
          </a:p>
        </p:txBody>
      </p:sp>
      <p:sp>
        <p:nvSpPr>
          <p:cNvPr id="143" name="Google Shape;143;p25"/>
          <p:cNvSpPr txBox="1"/>
          <p:nvPr>
            <p:ph idx="1" type="body"/>
          </p:nvPr>
        </p:nvSpPr>
        <p:spPr>
          <a:xfrm>
            <a:off x="31680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2</a:t>
            </a:r>
            <a:r>
              <a:rPr lang="en" sz="2400"/>
              <a:t>:</a:t>
            </a:r>
            <a:endParaRPr sz="2400"/>
          </a:p>
          <a:p>
            <a:pPr indent="0" lvl="0" marL="0" rtl="0" algn="ctr">
              <a:spcBef>
                <a:spcPts val="1200"/>
              </a:spcBef>
              <a:spcAft>
                <a:spcPts val="1200"/>
              </a:spcAft>
              <a:buNone/>
            </a:pPr>
            <a:r>
              <a:rPr lang="en" sz="2000"/>
              <a:t>Run with/without iterative prompting to generate metrics</a:t>
            </a:r>
            <a:endParaRPr sz="2000"/>
          </a:p>
        </p:txBody>
      </p:sp>
      <p:sp>
        <p:nvSpPr>
          <p:cNvPr id="144" name="Google Shape;144;p25"/>
          <p:cNvSpPr txBox="1"/>
          <p:nvPr>
            <p:ph idx="1" type="body"/>
          </p:nvPr>
        </p:nvSpPr>
        <p:spPr>
          <a:xfrm>
            <a:off x="60243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3</a:t>
            </a:r>
            <a:r>
              <a:rPr lang="en" sz="2400"/>
              <a:t>:</a:t>
            </a:r>
            <a:endParaRPr sz="2400"/>
          </a:p>
          <a:p>
            <a:pPr indent="0" lvl="0" marL="0" rtl="0" algn="ctr">
              <a:spcBef>
                <a:spcPts val="1200"/>
              </a:spcBef>
              <a:spcAft>
                <a:spcPts val="1200"/>
              </a:spcAft>
              <a:buNone/>
            </a:pPr>
            <a:r>
              <a:rPr lang="en" sz="2000"/>
              <a:t>Compare results to published paper to determine practicality</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Experiment Setup</a:t>
            </a:r>
            <a:endParaRPr/>
          </a:p>
        </p:txBody>
      </p:sp>
      <p:sp>
        <p:nvSpPr>
          <p:cNvPr id="150" name="Google Shape;150;p2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AI Model = GPT 4.1 Nano</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Context Limit = 8192</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All run on remote Ubuntu server</a:t>
            </a:r>
            <a:endParaRPr/>
          </a:p>
          <a:p>
            <a:pPr indent="0" lvl="0" marL="0" rtl="0" algn="l">
              <a:spcBef>
                <a:spcPts val="1200"/>
              </a:spcBef>
              <a:spcAft>
                <a:spcPts val="1200"/>
              </a:spcAft>
              <a:buNone/>
            </a:pPr>
            <a:r>
              <a:rPr lang="en"/>
              <a:t>(24 cores, 256 GB RAM, NVIDIA Quadro RTX 5000)</a:t>
            </a:r>
            <a:endParaRPr/>
          </a:p>
        </p:txBody>
      </p:sp>
      <p:sp>
        <p:nvSpPr>
          <p:cNvPr id="151" name="Google Shape;151;p26"/>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Focusing on speed, and inducing syntax </a:t>
            </a:r>
            <a:r>
              <a:rPr lang="en"/>
              <a:t>errors for testing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Branch Issues</a:t>
            </a:r>
            <a:endParaRPr/>
          </a:p>
        </p:txBody>
      </p:sp>
      <p:sp>
        <p:nvSpPr>
          <p:cNvPr id="157" name="Google Shape;15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Testing revealed published PromptFuzz main branch contains broken error detection.</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Even when generated programs were complete jargon (temperature=2), errors went undetected until they were passed along and reported as fuzzer </a:t>
            </a:r>
            <a:r>
              <a:rPr lang="en"/>
              <a:t>errors.</a:t>
            </a:r>
            <a:endParaRPr/>
          </a:p>
          <a:p>
            <a:pPr indent="-342900" lvl="0" marL="457200" rtl="0" algn="l">
              <a:spcBef>
                <a:spcPts val="0"/>
              </a:spcBef>
              <a:spcAft>
                <a:spcPts val="0"/>
              </a:spcAft>
              <a:buSzPts val="1800"/>
              <a:buChar char="●"/>
            </a:pPr>
            <a:r>
              <a:rPr lang="en"/>
              <a:t>The JSON error parsing logic had to be reworked, looks for last set of { } brackets. Pull request material.</a:t>
            </a:r>
            <a:endParaRPr/>
          </a:p>
        </p:txBody>
      </p:sp>
      <p:pic>
        <p:nvPicPr>
          <p:cNvPr id="158" name="Google Shape;158;p27"/>
          <p:cNvPicPr preferRelativeResize="0"/>
          <p:nvPr/>
        </p:nvPicPr>
        <p:blipFill>
          <a:blip r:embed="rId3">
            <a:alphaModFix/>
          </a:blip>
          <a:stretch>
            <a:fillRect/>
          </a:stretch>
        </p:blipFill>
        <p:spPr>
          <a:xfrm>
            <a:off x="311700" y="1956450"/>
            <a:ext cx="8520599" cy="302041"/>
          </a:xfrm>
          <a:prstGeom prst="rect">
            <a:avLst/>
          </a:prstGeom>
          <a:noFill/>
          <a:ln>
            <a:noFill/>
          </a:ln>
        </p:spPr>
      </p:pic>
      <p:sp>
        <p:nvSpPr>
          <p:cNvPr id="159" name="Google Shape;159;p27"/>
          <p:cNvSpPr/>
          <p:nvPr/>
        </p:nvSpPr>
        <p:spPr>
          <a:xfrm>
            <a:off x="4560950" y="2127975"/>
            <a:ext cx="717000" cy="1305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60" name="Google Shape;160;p27"/>
          <p:cNvSpPr/>
          <p:nvPr/>
        </p:nvSpPr>
        <p:spPr>
          <a:xfrm>
            <a:off x="7209750" y="2113275"/>
            <a:ext cx="749100" cy="1599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Branch Improvements</a:t>
            </a:r>
            <a:endParaRPr/>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55600" lvl="0" marL="457200" rtl="0" algn="l">
              <a:spcBef>
                <a:spcPts val="0"/>
              </a:spcBef>
              <a:spcAft>
                <a:spcPts val="0"/>
              </a:spcAft>
              <a:buSzPts val="2000"/>
              <a:buChar char="●"/>
            </a:pPr>
            <a:r>
              <a:rPr lang="en" sz="2000"/>
              <a:t>Revised the JSON format for error codes, restoring original functionality as it appeared in the paper.</a:t>
            </a:r>
            <a:endParaRPr sz="2000"/>
          </a:p>
          <a:p>
            <a:pPr indent="0" lvl="0" marL="0" rtl="0" algn="l">
              <a:spcBef>
                <a:spcPts val="1200"/>
              </a:spcBef>
              <a:spcAft>
                <a:spcPts val="0"/>
              </a:spcAft>
              <a:buNone/>
            </a:pPr>
            <a:r>
              <a:t/>
            </a:r>
            <a:endParaRPr sz="2000"/>
          </a:p>
          <a:p>
            <a:pPr indent="-355600" lvl="0" marL="457200" rtl="0" algn="l">
              <a:spcBef>
                <a:spcPts val="1200"/>
              </a:spcBef>
              <a:spcAft>
                <a:spcPts val="0"/>
              </a:spcAft>
              <a:buSzPts val="2000"/>
              <a:buChar char="●"/>
            </a:pPr>
            <a:r>
              <a:rPr lang="en" sz="2000"/>
              <a:t>Clarified code </a:t>
            </a:r>
            <a:r>
              <a:rPr lang="en" sz="2000"/>
              <a:t>elements (function names</a:t>
            </a:r>
            <a:r>
              <a:rPr lang="en" sz="2000"/>
              <a:t> and comments).</a:t>
            </a:r>
            <a:endParaRPr sz="2000"/>
          </a:p>
          <a:p>
            <a:pPr indent="0" lvl="0" marL="0" rtl="0" algn="l">
              <a:spcBef>
                <a:spcPts val="1200"/>
              </a:spcBef>
              <a:spcAft>
                <a:spcPts val="0"/>
              </a:spcAft>
              <a:buNone/>
            </a:pPr>
            <a:r>
              <a:t/>
            </a:r>
            <a:endParaRPr sz="2000"/>
          </a:p>
          <a:p>
            <a:pPr indent="-355600" lvl="0" marL="457200" rtl="0" algn="l">
              <a:spcBef>
                <a:spcPts val="1200"/>
              </a:spcBef>
              <a:spcAft>
                <a:spcPts val="0"/>
              </a:spcAft>
              <a:buSzPts val="2000"/>
              <a:buChar char="●"/>
            </a:pPr>
            <a:r>
              <a:rPr lang="en" sz="2000"/>
              <a:t>Added additional error checking and logging if program is run from the wrong directory. (specifically for libpcap, FDSan.h will be missing)</a:t>
            </a:r>
            <a:endParaRPr sz="2000"/>
          </a:p>
          <a:p>
            <a:pPr indent="0" lvl="0" marL="0" rtl="0" algn="l">
              <a:spcBef>
                <a:spcPts val="1200"/>
              </a:spcBef>
              <a:spcAft>
                <a:spcPts val="1200"/>
              </a:spcAft>
              <a:buNone/>
            </a:pPr>
            <a:r>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Revised Methodology</a:t>
            </a:r>
            <a:endParaRPr/>
          </a:p>
        </p:txBody>
      </p:sp>
      <p:sp>
        <p:nvSpPr>
          <p:cNvPr id="172" name="Google Shape;172;p29"/>
          <p:cNvSpPr txBox="1"/>
          <p:nvPr>
            <p:ph idx="1" type="body"/>
          </p:nvPr>
        </p:nvSpPr>
        <p:spPr>
          <a:xfrm>
            <a:off x="3117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1:</a:t>
            </a:r>
            <a:endParaRPr sz="2400"/>
          </a:p>
          <a:p>
            <a:pPr indent="0" lvl="0" marL="0" rtl="0" algn="ctr">
              <a:spcBef>
                <a:spcPts val="1200"/>
              </a:spcBef>
              <a:spcAft>
                <a:spcPts val="1200"/>
              </a:spcAft>
              <a:buNone/>
            </a:pPr>
            <a:r>
              <a:rPr lang="en" sz="2000"/>
              <a:t>Implement a functioning iterative syntax repair loop</a:t>
            </a:r>
            <a:endParaRPr sz="2000"/>
          </a:p>
        </p:txBody>
      </p:sp>
      <p:sp>
        <p:nvSpPr>
          <p:cNvPr id="173" name="Google Shape;173;p29"/>
          <p:cNvSpPr txBox="1"/>
          <p:nvPr>
            <p:ph idx="1" type="body"/>
          </p:nvPr>
        </p:nvSpPr>
        <p:spPr>
          <a:xfrm>
            <a:off x="31680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2:</a:t>
            </a:r>
            <a:endParaRPr sz="2400"/>
          </a:p>
          <a:p>
            <a:pPr indent="0" lvl="0" marL="0" rtl="0" algn="ctr">
              <a:spcBef>
                <a:spcPts val="1200"/>
              </a:spcBef>
              <a:spcAft>
                <a:spcPts val="1200"/>
              </a:spcAft>
              <a:buNone/>
            </a:pPr>
            <a:r>
              <a:rPr lang="en" sz="2000"/>
              <a:t>Develop test suite for  syntax repair for identifying LLM repair capabilities</a:t>
            </a:r>
            <a:endParaRPr sz="2000"/>
          </a:p>
        </p:txBody>
      </p:sp>
      <p:sp>
        <p:nvSpPr>
          <p:cNvPr id="174" name="Google Shape;174;p29"/>
          <p:cNvSpPr txBox="1"/>
          <p:nvPr>
            <p:ph idx="1" type="body"/>
          </p:nvPr>
        </p:nvSpPr>
        <p:spPr>
          <a:xfrm>
            <a:off x="6024300" y="1389600"/>
            <a:ext cx="2808000" cy="3179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t>3:</a:t>
            </a:r>
            <a:endParaRPr sz="2400"/>
          </a:p>
          <a:p>
            <a:pPr indent="0" lvl="0" marL="0" rtl="0" algn="ctr">
              <a:spcBef>
                <a:spcPts val="1200"/>
              </a:spcBef>
              <a:spcAft>
                <a:spcPts val="1200"/>
              </a:spcAft>
              <a:buNone/>
            </a:pPr>
            <a:r>
              <a:rPr lang="en" sz="2000"/>
              <a:t>Run test cases </a:t>
            </a:r>
            <a:r>
              <a:rPr lang="en" sz="2000"/>
              <a:t>against</a:t>
            </a:r>
            <a:r>
              <a:rPr lang="en" sz="2000"/>
              <a:t> module to test effectiveness in specific scenarios</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Findings</a:t>
            </a:r>
            <a:endParaRPr/>
          </a:p>
        </p:txBody>
      </p:sp>
      <p:sp>
        <p:nvSpPr>
          <p:cNvPr id="180" name="Google Shape;18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LLM repair worked on all test cases (8/8 passed, only 1 iteration)</a:t>
            </a:r>
            <a:endParaRPr sz="2200"/>
          </a:p>
          <a:p>
            <a:pPr indent="-349250" lvl="1" marL="914400" rtl="0" algn="l">
              <a:spcBef>
                <a:spcPts val="0"/>
              </a:spcBef>
              <a:spcAft>
                <a:spcPts val="0"/>
              </a:spcAft>
              <a:buSzPts val="1900"/>
              <a:buChar char="○"/>
            </a:pPr>
            <a:r>
              <a:rPr lang="en" sz="1900"/>
              <a:t>Valid Program (no repair)</a:t>
            </a:r>
            <a:endParaRPr sz="1900"/>
          </a:p>
          <a:p>
            <a:pPr indent="-349250" lvl="1" marL="914400" rtl="0" algn="l">
              <a:spcBef>
                <a:spcPts val="0"/>
              </a:spcBef>
              <a:spcAft>
                <a:spcPts val="0"/>
              </a:spcAft>
              <a:buSzPts val="1900"/>
              <a:buChar char="○"/>
            </a:pPr>
            <a:r>
              <a:rPr lang="en" sz="1900"/>
              <a:t>Missing Braces</a:t>
            </a:r>
            <a:endParaRPr sz="1900"/>
          </a:p>
          <a:p>
            <a:pPr indent="-349250" lvl="1" marL="914400" rtl="0" algn="l">
              <a:spcBef>
                <a:spcPts val="0"/>
              </a:spcBef>
              <a:spcAft>
                <a:spcPts val="0"/>
              </a:spcAft>
              <a:buSzPts val="1900"/>
              <a:buChar char="○"/>
            </a:pPr>
            <a:r>
              <a:rPr lang="en" sz="1900"/>
              <a:t>Missing Semicolon</a:t>
            </a:r>
            <a:endParaRPr sz="1900"/>
          </a:p>
          <a:p>
            <a:pPr indent="-349250" lvl="1" marL="914400" rtl="0" algn="l">
              <a:spcBef>
                <a:spcPts val="0"/>
              </a:spcBef>
              <a:spcAft>
                <a:spcPts val="0"/>
              </a:spcAft>
              <a:buSzPts val="1900"/>
              <a:buChar char="○"/>
            </a:pPr>
            <a:r>
              <a:rPr lang="en" sz="1900"/>
              <a:t>Keyword Typo</a:t>
            </a:r>
            <a:endParaRPr sz="1900"/>
          </a:p>
          <a:p>
            <a:pPr indent="-349250" lvl="1" marL="914400" rtl="0" algn="l">
              <a:spcBef>
                <a:spcPts val="0"/>
              </a:spcBef>
              <a:spcAft>
                <a:spcPts val="0"/>
              </a:spcAft>
              <a:buSzPts val="1900"/>
              <a:buChar char="○"/>
            </a:pPr>
            <a:r>
              <a:rPr lang="en" sz="1900"/>
              <a:t>Missing Type</a:t>
            </a:r>
            <a:endParaRPr sz="1900"/>
          </a:p>
          <a:p>
            <a:pPr indent="-349250" lvl="1" marL="914400" rtl="0" algn="l">
              <a:spcBef>
                <a:spcPts val="0"/>
              </a:spcBef>
              <a:spcAft>
                <a:spcPts val="0"/>
              </a:spcAft>
              <a:buSzPts val="1900"/>
              <a:buChar char="○"/>
            </a:pPr>
            <a:r>
              <a:rPr lang="en" sz="1900"/>
              <a:t>Unmatched Parenthesis</a:t>
            </a:r>
            <a:endParaRPr sz="1900"/>
          </a:p>
          <a:p>
            <a:pPr indent="-349250" lvl="1" marL="914400" rtl="0" algn="l">
              <a:spcBef>
                <a:spcPts val="0"/>
              </a:spcBef>
              <a:spcAft>
                <a:spcPts val="0"/>
              </a:spcAft>
              <a:buSzPts val="1900"/>
              <a:buChar char="○"/>
            </a:pPr>
            <a:r>
              <a:rPr lang="en" sz="1900"/>
              <a:t>Multiple of the above</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555600"/>
            <a:ext cx="51654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lt1"/>
                </a:solidFill>
              </a:rPr>
              <a:t>Test Example: 1 Try Fix</a:t>
            </a:r>
            <a:endParaRPr sz="3000">
              <a:solidFill>
                <a:schemeClr val="lt1"/>
              </a:solidFill>
            </a:endParaRPr>
          </a:p>
        </p:txBody>
      </p:sp>
      <p:pic>
        <p:nvPicPr>
          <p:cNvPr id="186" name="Google Shape;186;p31"/>
          <p:cNvPicPr preferRelativeResize="0"/>
          <p:nvPr/>
        </p:nvPicPr>
        <p:blipFill>
          <a:blip r:embed="rId3">
            <a:alphaModFix/>
          </a:blip>
          <a:stretch>
            <a:fillRect/>
          </a:stretch>
        </p:blipFill>
        <p:spPr>
          <a:xfrm>
            <a:off x="152400" y="1635175"/>
            <a:ext cx="8839204" cy="1873152"/>
          </a:xfrm>
          <a:prstGeom prst="rect">
            <a:avLst/>
          </a:prstGeom>
          <a:noFill/>
          <a:ln>
            <a:noFill/>
          </a:ln>
        </p:spPr>
      </p:pic>
      <p:sp>
        <p:nvSpPr>
          <p:cNvPr id="187" name="Google Shape;187;p31"/>
          <p:cNvSpPr txBox="1"/>
          <p:nvPr/>
        </p:nvSpPr>
        <p:spPr>
          <a:xfrm>
            <a:off x="2156150" y="1576200"/>
            <a:ext cx="5288400" cy="944700"/>
          </a:xfrm>
          <a:prstGeom prst="rect">
            <a:avLst/>
          </a:prstGeom>
          <a:noFill/>
          <a:ln cap="flat" cmpd="sng" w="7620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 name="Shape 191"/>
        <p:cNvGrpSpPr/>
        <p:nvPr/>
      </p:nvGrpSpPr>
      <p:grpSpPr>
        <a:xfrm>
          <a:off x="0" y="0"/>
          <a:ext cx="0" cy="0"/>
          <a:chOff x="0" y="0"/>
          <a:chExt cx="0" cy="0"/>
        </a:xfrm>
      </p:grpSpPr>
      <p:sp>
        <p:nvSpPr>
          <p:cNvPr id="192" name="Google Shape;192;p32"/>
          <p:cNvSpPr txBox="1"/>
          <p:nvPr>
            <p:ph type="title"/>
          </p:nvPr>
        </p:nvSpPr>
        <p:spPr>
          <a:xfrm>
            <a:off x="333025" y="451350"/>
            <a:ext cx="81708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lt1"/>
                </a:solidFill>
              </a:rPr>
              <a:t>Test Example: Multiple Attempts to Fix</a:t>
            </a:r>
            <a:endParaRPr sz="3000">
              <a:solidFill>
                <a:schemeClr val="lt1"/>
              </a:solidFill>
            </a:endParaRPr>
          </a:p>
        </p:txBody>
      </p:sp>
      <p:pic>
        <p:nvPicPr>
          <p:cNvPr id="193" name="Google Shape;193;p32"/>
          <p:cNvPicPr preferRelativeResize="0"/>
          <p:nvPr/>
        </p:nvPicPr>
        <p:blipFill rotWithShape="1">
          <a:blip r:embed="rId3">
            <a:alphaModFix/>
          </a:blip>
          <a:srcRect b="61433" l="0" r="16659" t="0"/>
          <a:stretch/>
        </p:blipFill>
        <p:spPr>
          <a:xfrm>
            <a:off x="0" y="1207050"/>
            <a:ext cx="9144003" cy="1028880"/>
          </a:xfrm>
          <a:prstGeom prst="rect">
            <a:avLst/>
          </a:prstGeom>
          <a:noFill/>
          <a:ln>
            <a:noFill/>
          </a:ln>
        </p:spPr>
      </p:pic>
      <p:pic>
        <p:nvPicPr>
          <p:cNvPr id="194" name="Google Shape;194;p32"/>
          <p:cNvPicPr preferRelativeResize="0"/>
          <p:nvPr/>
        </p:nvPicPr>
        <p:blipFill rotWithShape="1">
          <a:blip r:embed="rId3">
            <a:alphaModFix/>
          </a:blip>
          <a:srcRect b="23857" l="0" r="16770" t="37835"/>
          <a:stretch/>
        </p:blipFill>
        <p:spPr>
          <a:xfrm>
            <a:off x="0" y="3041225"/>
            <a:ext cx="9143997" cy="1023444"/>
          </a:xfrm>
          <a:prstGeom prst="rect">
            <a:avLst/>
          </a:prstGeom>
          <a:noFill/>
          <a:ln>
            <a:noFill/>
          </a:ln>
        </p:spPr>
      </p:pic>
      <p:sp>
        <p:nvSpPr>
          <p:cNvPr id="195" name="Google Shape;195;p32"/>
          <p:cNvSpPr txBox="1"/>
          <p:nvPr/>
        </p:nvSpPr>
        <p:spPr>
          <a:xfrm>
            <a:off x="2461600" y="1405100"/>
            <a:ext cx="5646000" cy="898200"/>
          </a:xfrm>
          <a:prstGeom prst="rect">
            <a:avLst/>
          </a:prstGeom>
          <a:noFill/>
          <a:ln cap="flat" cmpd="sng" w="7620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
        <p:nvSpPr>
          <p:cNvPr id="196" name="Google Shape;196;p32"/>
          <p:cNvSpPr txBox="1"/>
          <p:nvPr/>
        </p:nvSpPr>
        <p:spPr>
          <a:xfrm>
            <a:off x="2461600" y="3041225"/>
            <a:ext cx="5763600" cy="1101300"/>
          </a:xfrm>
          <a:prstGeom prst="rect">
            <a:avLst/>
          </a:prstGeom>
          <a:noFill/>
          <a:ln cap="flat" cmpd="sng" w="7620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
        <p:nvSpPr>
          <p:cNvPr id="197" name="Google Shape;197;p32"/>
          <p:cNvSpPr txBox="1"/>
          <p:nvPr/>
        </p:nvSpPr>
        <p:spPr>
          <a:xfrm>
            <a:off x="2073450" y="4333650"/>
            <a:ext cx="4997100" cy="20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NOTE: Intentionally ran so FDSan.h would not be found, otherwise will run full sanitization.</a:t>
            </a:r>
            <a:endParaRPr>
              <a:solidFill>
                <a:schemeClr val="lt1"/>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No Tests on a Full Library?</a:t>
            </a:r>
            <a:endParaRPr/>
          </a:p>
        </p:txBody>
      </p:sp>
      <p:sp>
        <p:nvSpPr>
          <p:cNvPr id="203" name="Google Shape;20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Often limited by Open AI API, requested number of tokens per minute too high.</a:t>
            </a:r>
            <a:endParaRPr/>
          </a:p>
          <a:p>
            <a:pPr indent="0" lvl="0" marL="0" rtl="0" algn="l">
              <a:spcBef>
                <a:spcPts val="1200"/>
              </a:spcBef>
              <a:spcAft>
                <a:spcPts val="0"/>
              </a:spcAft>
              <a:buNone/>
            </a:pPr>
            <a:r>
              <a:rPr lang="en"/>
              <a:t>Very slow to test full library and </a:t>
            </a:r>
            <a:r>
              <a:rPr lang="en"/>
              <a:t>expensive</a:t>
            </a:r>
            <a:r>
              <a:rPr lang="en"/>
              <a:t> for API tokens.</a:t>
            </a:r>
            <a:endParaRPr/>
          </a:p>
          <a:p>
            <a:pPr indent="0" lvl="0" marL="0" rtl="0" algn="l">
              <a:spcBef>
                <a:spcPts val="1200"/>
              </a:spcBef>
              <a:spcAft>
                <a:spcPts val="1200"/>
              </a:spcAft>
              <a:buNone/>
            </a:pPr>
            <a:r>
              <a:rPr lang="en"/>
              <a:t>Challenge with vLLM - Small GPU and need an OpenAI API compatible model </a:t>
            </a:r>
            <a:endParaRPr/>
          </a:p>
        </p:txBody>
      </p:sp>
      <p:pic>
        <p:nvPicPr>
          <p:cNvPr id="204" name="Google Shape;204;p33"/>
          <p:cNvPicPr preferRelativeResize="0"/>
          <p:nvPr/>
        </p:nvPicPr>
        <p:blipFill>
          <a:blip r:embed="rId3">
            <a:alphaModFix/>
          </a:blip>
          <a:stretch>
            <a:fillRect/>
          </a:stretch>
        </p:blipFill>
        <p:spPr>
          <a:xfrm>
            <a:off x="976300" y="2620025"/>
            <a:ext cx="7191406" cy="2321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Points</a:t>
            </a:r>
            <a:endParaRPr/>
          </a:p>
        </p:txBody>
      </p:sp>
      <p:sp>
        <p:nvSpPr>
          <p:cNvPr id="210" name="Google Shape;210;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Prompt</a:t>
            </a:r>
            <a:r>
              <a:rPr lang="en" sz="2000"/>
              <a:t> was effective at resolving syntax errors</a:t>
            </a:r>
            <a:br>
              <a:rPr lang="en" sz="2000"/>
            </a:br>
            <a:endParaRPr sz="2000"/>
          </a:p>
          <a:p>
            <a:pPr indent="-355600" lvl="0" marL="457200" rtl="0" algn="l">
              <a:spcBef>
                <a:spcPts val="0"/>
              </a:spcBef>
              <a:spcAft>
                <a:spcPts val="0"/>
              </a:spcAft>
              <a:buSzPts val="2000"/>
              <a:buChar char="●"/>
            </a:pPr>
            <a:r>
              <a:rPr lang="en" sz="2000"/>
              <a:t>Corrected programs returned to the seed bank</a:t>
            </a:r>
            <a:br>
              <a:rPr lang="en" sz="2000"/>
            </a:br>
            <a:endParaRPr sz="2000"/>
          </a:p>
          <a:p>
            <a:pPr indent="-355600" lvl="0" marL="457200" rtl="0" algn="l">
              <a:spcBef>
                <a:spcPts val="0"/>
              </a:spcBef>
              <a:spcAft>
                <a:spcPts val="0"/>
              </a:spcAft>
              <a:buSzPts val="2000"/>
              <a:buChar char="●"/>
            </a:pPr>
            <a:r>
              <a:rPr lang="en" sz="2000"/>
              <a:t>Potentially more resource efficient to repair instead of regenerate</a:t>
            </a:r>
            <a:br>
              <a:rPr lang="en" sz="2000"/>
            </a:br>
            <a:endParaRPr sz="2000"/>
          </a:p>
          <a:p>
            <a:pPr indent="-355600" lvl="0" marL="457200" rtl="0" algn="l">
              <a:spcBef>
                <a:spcPts val="0"/>
              </a:spcBef>
              <a:spcAft>
                <a:spcPts val="0"/>
              </a:spcAft>
              <a:buSzPts val="2000"/>
              <a:buChar char="●"/>
            </a:pPr>
            <a:r>
              <a:rPr lang="en" sz="2000"/>
              <a:t>Numerous spelling and grammatical errors in code and comments</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216" name="Google Shape;21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Long testing periods results in limited testing</a:t>
            </a:r>
            <a:endParaRPr sz="2200"/>
          </a:p>
          <a:p>
            <a:pPr indent="-342900" lvl="1" marL="914400" rtl="0" algn="l">
              <a:spcBef>
                <a:spcPts val="0"/>
              </a:spcBef>
              <a:spcAft>
                <a:spcPts val="0"/>
              </a:spcAft>
              <a:buSzPts val="1800"/>
              <a:buChar char="○"/>
            </a:pPr>
            <a:r>
              <a:rPr lang="en" sz="1800"/>
              <a:t>Local LLMs slow and have small number of </a:t>
            </a:r>
            <a:r>
              <a:rPr lang="en" sz="1800"/>
              <a:t>parameters</a:t>
            </a:r>
            <a:r>
              <a:rPr lang="en" sz="1800"/>
              <a:t> (need more VRAM)</a:t>
            </a:r>
            <a:endParaRPr sz="1800"/>
          </a:p>
          <a:p>
            <a:pPr indent="-342900" lvl="1" marL="914400" rtl="0" algn="l">
              <a:spcBef>
                <a:spcPts val="0"/>
              </a:spcBef>
              <a:spcAft>
                <a:spcPts val="0"/>
              </a:spcAft>
              <a:buSzPts val="1800"/>
              <a:buChar char="○"/>
            </a:pPr>
            <a:r>
              <a:rPr lang="en" sz="1800"/>
              <a:t>Paid APIs faster and more capable, but costs money [$$$]</a:t>
            </a:r>
            <a:endParaRPr sz="1800"/>
          </a:p>
          <a:p>
            <a:pPr indent="-342900" lvl="1" marL="914400" rtl="0" algn="l">
              <a:spcBef>
                <a:spcPts val="0"/>
              </a:spcBef>
              <a:spcAft>
                <a:spcPts val="0"/>
              </a:spcAft>
              <a:buSzPts val="1800"/>
              <a:buChar char="○"/>
            </a:pPr>
            <a:r>
              <a:rPr lang="en" sz="1800"/>
              <a:t>Sanitization process takes very long </a:t>
            </a:r>
            <a:endParaRPr sz="1800"/>
          </a:p>
          <a:p>
            <a:pPr indent="-342900" lvl="1" marL="914400" rtl="0" algn="l">
              <a:spcBef>
                <a:spcPts val="0"/>
              </a:spcBef>
              <a:spcAft>
                <a:spcPts val="0"/>
              </a:spcAft>
              <a:buSzPts val="1800"/>
              <a:buChar char="○"/>
            </a:pPr>
            <a:r>
              <a:rPr lang="en" sz="1800"/>
              <a:t>Limited contexts required = slower results</a:t>
            </a:r>
            <a:br>
              <a:rPr lang="en" sz="1800"/>
            </a:br>
            <a:endParaRPr sz="1800"/>
          </a:p>
          <a:p>
            <a:pPr indent="-368300" lvl="0" marL="457200" rtl="0" algn="l">
              <a:spcBef>
                <a:spcPts val="0"/>
              </a:spcBef>
              <a:spcAft>
                <a:spcPts val="0"/>
              </a:spcAft>
              <a:buSzPts val="2200"/>
              <a:buChar char="●"/>
            </a:pPr>
            <a:r>
              <a:rPr lang="en" sz="2200"/>
              <a:t>Only performed testing on the Libpcap and cJSON libraries</a:t>
            </a:r>
            <a:endParaRPr sz="2200"/>
          </a:p>
          <a:p>
            <a:pPr indent="-342900" lvl="1" marL="914400" rtl="0" algn="l">
              <a:spcBef>
                <a:spcPts val="0"/>
              </a:spcBef>
              <a:spcAft>
                <a:spcPts val="0"/>
              </a:spcAft>
              <a:buSzPts val="1800"/>
              <a:buChar char="○"/>
            </a:pPr>
            <a:r>
              <a:rPr lang="en" sz="1800"/>
              <a:t>Can take a long time to find a syntax error with reasonable temperature </a:t>
            </a:r>
            <a:endParaRPr sz="1800"/>
          </a:p>
          <a:p>
            <a:pPr indent="-342900" lvl="1" marL="914400" rtl="0" algn="l">
              <a:spcBef>
                <a:spcPts val="0"/>
              </a:spcBef>
              <a:spcAft>
                <a:spcPts val="0"/>
              </a:spcAft>
              <a:buSzPts val="1800"/>
              <a:buChar char="○"/>
            </a:pPr>
            <a:r>
              <a:rPr lang="en" sz="1800"/>
              <a:t>Longer testing periods prevents more </a:t>
            </a:r>
            <a:r>
              <a:rPr lang="en" sz="1800"/>
              <a:t>thorough</a:t>
            </a:r>
            <a:r>
              <a:rPr lang="en" sz="1800"/>
              <a:t> testing</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OpenAI API Usage and Expenditures</a:t>
            </a:r>
            <a:endParaRPr/>
          </a:p>
        </p:txBody>
      </p:sp>
      <p:pic>
        <p:nvPicPr>
          <p:cNvPr id="222" name="Google Shape;222;p36"/>
          <p:cNvPicPr preferRelativeResize="0"/>
          <p:nvPr/>
        </p:nvPicPr>
        <p:blipFill>
          <a:blip r:embed="rId3">
            <a:alphaModFix/>
          </a:blip>
          <a:stretch>
            <a:fillRect/>
          </a:stretch>
        </p:blipFill>
        <p:spPr>
          <a:xfrm>
            <a:off x="311700" y="1152475"/>
            <a:ext cx="4324350" cy="3543300"/>
          </a:xfrm>
          <a:prstGeom prst="rect">
            <a:avLst/>
          </a:prstGeom>
          <a:noFill/>
          <a:ln>
            <a:noFill/>
          </a:ln>
        </p:spPr>
      </p:pic>
      <p:pic>
        <p:nvPicPr>
          <p:cNvPr id="223" name="Google Shape;223;p36"/>
          <p:cNvPicPr preferRelativeResize="0"/>
          <p:nvPr/>
        </p:nvPicPr>
        <p:blipFill>
          <a:blip r:embed="rId4">
            <a:alphaModFix/>
          </a:blip>
          <a:stretch>
            <a:fillRect/>
          </a:stretch>
        </p:blipFill>
        <p:spPr>
          <a:xfrm>
            <a:off x="4788450" y="1170125"/>
            <a:ext cx="1352550" cy="1009650"/>
          </a:xfrm>
          <a:prstGeom prst="rect">
            <a:avLst/>
          </a:prstGeom>
          <a:noFill/>
          <a:ln>
            <a:noFill/>
          </a:ln>
        </p:spPr>
      </p:pic>
      <p:pic>
        <p:nvPicPr>
          <p:cNvPr id="224" name="Google Shape;224;p36"/>
          <p:cNvPicPr preferRelativeResize="0"/>
          <p:nvPr/>
        </p:nvPicPr>
        <p:blipFill>
          <a:blip r:embed="rId5">
            <a:alphaModFix/>
          </a:blip>
          <a:stretch>
            <a:fillRect/>
          </a:stretch>
        </p:blipFill>
        <p:spPr>
          <a:xfrm>
            <a:off x="4788450" y="2332175"/>
            <a:ext cx="4203150" cy="18452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230" name="Google Shape;23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sz="2400"/>
              <a:t>Perform our initial methodology</a:t>
            </a:r>
            <a:endParaRPr sz="2400"/>
          </a:p>
          <a:p>
            <a:pPr indent="-355600" lvl="1" marL="914400" rtl="0" algn="l">
              <a:spcBef>
                <a:spcPts val="0"/>
              </a:spcBef>
              <a:spcAft>
                <a:spcPts val="0"/>
              </a:spcAft>
              <a:buSzPts val="2000"/>
              <a:buChar char="○"/>
            </a:pPr>
            <a:r>
              <a:rPr lang="en" sz="2000"/>
              <a:t>Generate</a:t>
            </a:r>
            <a:r>
              <a:rPr lang="en" sz="2000"/>
              <a:t> baseline data using PromptFuzz</a:t>
            </a:r>
            <a:endParaRPr sz="2000"/>
          </a:p>
          <a:p>
            <a:pPr indent="-355600" lvl="1" marL="914400" rtl="0" algn="l">
              <a:spcBef>
                <a:spcPts val="0"/>
              </a:spcBef>
              <a:spcAft>
                <a:spcPts val="0"/>
              </a:spcAft>
              <a:buSzPts val="2000"/>
              <a:buChar char="○"/>
            </a:pPr>
            <a:r>
              <a:rPr lang="en" sz="2000"/>
              <a:t>Run RePromptFuzz with the same constraints</a:t>
            </a:r>
            <a:endParaRPr sz="2000"/>
          </a:p>
          <a:p>
            <a:pPr indent="-355600" lvl="1" marL="914400" rtl="0" algn="l">
              <a:spcBef>
                <a:spcPts val="0"/>
              </a:spcBef>
              <a:spcAft>
                <a:spcPts val="0"/>
              </a:spcAft>
              <a:buSzPts val="2000"/>
              <a:buChar char="○"/>
            </a:pPr>
            <a:r>
              <a:rPr lang="en" sz="2000"/>
              <a:t>Compare</a:t>
            </a:r>
            <a:r>
              <a:rPr lang="en" sz="2000"/>
              <a:t> results (not with original paper, 3.5 model is deprecated)</a:t>
            </a:r>
            <a:endParaRPr sz="2000"/>
          </a:p>
          <a:p>
            <a:pPr indent="-381000" lvl="0" marL="457200" rtl="0" algn="l">
              <a:spcBef>
                <a:spcPts val="0"/>
              </a:spcBef>
              <a:spcAft>
                <a:spcPts val="0"/>
              </a:spcAft>
              <a:buSzPts val="2400"/>
              <a:buChar char="●"/>
            </a:pPr>
            <a:r>
              <a:rPr lang="en" sz="2400"/>
              <a:t>Tweak LLM repair module</a:t>
            </a:r>
            <a:endParaRPr sz="2400"/>
          </a:p>
          <a:p>
            <a:pPr indent="-355600" lvl="1" marL="914400" rtl="0" algn="l">
              <a:spcBef>
                <a:spcPts val="0"/>
              </a:spcBef>
              <a:spcAft>
                <a:spcPts val="0"/>
              </a:spcAft>
              <a:buSzPts val="2000"/>
              <a:buChar char="○"/>
            </a:pPr>
            <a:r>
              <a:rPr lang="en" sz="2000"/>
              <a:t>More or less retries</a:t>
            </a:r>
            <a:endParaRPr sz="2000"/>
          </a:p>
          <a:p>
            <a:pPr indent="-355600" lvl="1" marL="914400" rtl="0" algn="l">
              <a:spcBef>
                <a:spcPts val="0"/>
              </a:spcBef>
              <a:spcAft>
                <a:spcPts val="0"/>
              </a:spcAft>
              <a:buSzPts val="2000"/>
              <a:buChar char="○"/>
            </a:pPr>
            <a:r>
              <a:rPr lang="en" sz="2000"/>
              <a:t>Attempt more </a:t>
            </a:r>
            <a:r>
              <a:rPr lang="en" sz="2000"/>
              <a:t>rigorous</a:t>
            </a:r>
            <a:r>
              <a:rPr lang="en" sz="2000"/>
              <a:t> prompt-engineering techniques          (Chain of Thought, Least to Most prompting)</a:t>
            </a:r>
            <a:endParaRPr sz="2000"/>
          </a:p>
          <a:p>
            <a:pPr indent="-355600" lvl="0" marL="457200" rtl="0" algn="l">
              <a:spcBef>
                <a:spcPts val="0"/>
              </a:spcBef>
              <a:spcAft>
                <a:spcPts val="0"/>
              </a:spcAft>
              <a:buSzPts val="2000"/>
              <a:buChar char="●"/>
            </a:pPr>
            <a:r>
              <a:rPr lang="en" sz="2000"/>
              <a:t>Test Local vs paid API LLMs (gpt-oss-20b model on RIT HPC)</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36" name="Google Shape;23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Yunlong Lyu, Yuxuan Xie, Peng Chen, and Hao Chen. 2024. Prompt Fuzzing for Fuzz Driver Generation. In Proceedings of the 2024 on ACM SIGSAC Conference on Computer and Communications Security (CCS '24). Association for Computing Machinery, New York, NY, USA, 3793–3807. https://doi.org/10.1145/3658644.3670396</a:t>
            </a:r>
            <a:endParaRPr/>
          </a:p>
          <a:p>
            <a:pPr indent="-342900" lvl="0" marL="457200" rtl="0" algn="l">
              <a:spcBef>
                <a:spcPts val="0"/>
              </a:spcBef>
              <a:spcAft>
                <a:spcPts val="0"/>
              </a:spcAft>
              <a:buSzPts val="1800"/>
              <a:buChar char="-"/>
            </a:pPr>
            <a:r>
              <a:rPr lang="en"/>
              <a:t>Jiang, Y., Liang, J., Ma, F., Chen, Y., Zhou, C., Shen, Y., ... &amp; Zhang, Q. (2024, July). When fuzzing meets llms: Challenges and opportunities. In Companion Proceedings of the 32nd ACM International Conference on the Foundations of Software Engineering (pp. 492-496).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 (con)</a:t>
            </a:r>
            <a:endParaRPr/>
          </a:p>
        </p:txBody>
      </p:sp>
      <p:sp>
        <p:nvSpPr>
          <p:cNvPr id="242" name="Google Shape;24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Amiet, N. (2023, December 7). Introducing fuzzomatic: Using AI to automatically fuzz rust projects from scratch. RSS. https://kudelskisecurity.com/research/introducing-fuzzomatic-using-ai-to-automatically-fuzz-rust-projects-from-scratch</a:t>
            </a:r>
            <a:endParaRPr/>
          </a:p>
          <a:p>
            <a:pPr indent="-342900" lvl="0" marL="457200" rtl="0" algn="l">
              <a:spcBef>
                <a:spcPts val="0"/>
              </a:spcBef>
              <a:spcAft>
                <a:spcPts val="0"/>
              </a:spcAft>
              <a:buSzPts val="1800"/>
              <a:buChar char="-"/>
            </a:pPr>
            <a:r>
              <a:rPr lang="en"/>
              <a:t>Liu, D., M, J., &amp; O, C. (2023). Fuzz target generation using llms. OSS-Fuzz. https://google.github.io/oss-fuzz/research/llms/target_generation/</a:t>
            </a:r>
            <a:endParaRPr/>
          </a:p>
          <a:p>
            <a:pPr indent="-342900" lvl="0" marL="457200" rtl="0" algn="l">
              <a:spcBef>
                <a:spcPts val="0"/>
              </a:spcBef>
              <a:spcAft>
                <a:spcPts val="0"/>
              </a:spcAft>
              <a:buSzPts val="1800"/>
              <a:buChar char="-"/>
            </a:pPr>
            <a:r>
              <a:rPr lang="en"/>
              <a:t>Liu, D., M, J., &amp; O, C. (2024). Leveling Up Fuzzing: Finding more vulnerabilities with AI. https://security.googleblog.com/2024/11/leveling-up-fuzzing-finding-more.html</a:t>
            </a:r>
            <a:endParaRPr/>
          </a:p>
          <a:p>
            <a:pPr indent="0" lvl="0" marL="45720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